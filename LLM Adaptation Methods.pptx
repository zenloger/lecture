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19500" y="2813934"/>
            <a:ext cx="1905000" cy="18942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519" y="772012"/>
            <a:ext cx="7924962" cy="91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Методы адаптации и дообучения больших языковых моделей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86003" y="1838704"/>
            <a:ext cx="3371858" cy="365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RAG, Fine-tuning, LoRA и QLoRA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33158" y="3442259"/>
            <a:ext cx="1877548" cy="30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Магистранты 2 курса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80430" y="3975470"/>
            <a:ext cx="983004" cy="24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Декабрь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3632218"/>
            <a:ext cx="7924962" cy="578941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 Почему нужна адаптация?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211" y="1477863"/>
            <a:ext cx="7620270" cy="177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предтренированы на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общих данных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Недостаточно точны для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специализированных задач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🌍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 знают о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вашем домене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и контексте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💰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Но требуют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огромные вычислительные ресурсы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6501" y="3784564"/>
            <a:ext cx="7737347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Нужно решение, которое эффективно и практично! 🚀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3848154" cy="2487053"/>
          </a:xfrm>
          <a:prstGeom prst="roundRect">
            <a:avLst>
              <a:gd name="adj" fmla="val 29413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192" y="1477863"/>
            <a:ext cx="3848289" cy="2487053"/>
          </a:xfrm>
          <a:prstGeom prst="roundRect">
            <a:avLst>
              <a:gd name="adj" fmla="val 29413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План на час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6697" y="1715041"/>
            <a:ext cx="3373798" cy="26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 Теория (40 мин)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999043" y="2135818"/>
            <a:ext cx="3221452" cy="143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 (12 мин)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Fine-tuning (12 мин)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LoRA &amp; QLoRA (15 мин)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Критерии выбора (10 мин)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23370" y="1715041"/>
            <a:ext cx="3373934" cy="26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💻 Практика (20 мин)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5075715" y="2135818"/>
            <a:ext cx="3221588" cy="143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Примеры кода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 demo (опционально)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Инструменты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Вопросы &amp; Итоги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2"/>
            <a:ext cx="7924962" cy="578941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4015922"/>
            <a:ext cx="7924962" cy="365711"/>
          </a:xfrm>
          <a:prstGeom prst="roundRect">
            <a:avLst>
              <a:gd name="adj" fmla="val 150020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Пользователь → Поиск документов → LLM генерирует ответ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 RAG: Что это?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3819" y="1630209"/>
            <a:ext cx="7719682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 =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Retriever + Augmentation + Generator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19" y="2437669"/>
            <a:ext cx="8083461" cy="26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Основная идея: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14211" y="2934349"/>
            <a:ext cx="762027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Хранить все знания в весах модели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Использовать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внешнюю базу знаний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+ поиск + LLM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01689"/>
            <a:ext cx="7924962" cy="832896"/>
          </a:xfrm>
          <a:prstGeom prst="roundRect">
            <a:avLst>
              <a:gd name="adj" fmla="val 65871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Пользователь: "Как работает трансформер?"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↓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[Ретривер — поиск в индексе]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↓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Релевантные документы (top-5)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↓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[Конкатенация с вопросом]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↓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[LLM генерирует ответ]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↓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Ответ с ссылками на источники ✅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🏗️ Архитектура RAG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Компоненты RAG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📱 Примеры RAG в боевых условиях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1"/>
            <a:ext cx="7620270" cy="266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Чат-боты по документации (Discord bot, GitHub docs)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Системы Q&amp;A по корпусу статей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📄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Анализ внутренних документов компании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🏥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Медицинские системы поддержки решений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⚖️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Юридические консультанты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Персональные AI ассистенты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3848154" cy="1132582"/>
          </a:xfrm>
          <a:prstGeom prst="roundRect">
            <a:avLst>
              <a:gd name="adj" fmla="val 64589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192" y="1477863"/>
            <a:ext cx="3848289" cy="1132582"/>
          </a:xfrm>
          <a:prstGeom prst="roundRect">
            <a:avLst>
              <a:gd name="adj" fmla="val 64589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19" y="2838964"/>
            <a:ext cx="3848154" cy="1132582"/>
          </a:xfrm>
          <a:prstGeom prst="roundRect">
            <a:avLst>
              <a:gd name="adj" fmla="val 64589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192" y="2838964"/>
            <a:ext cx="3848289" cy="1132582"/>
          </a:xfrm>
          <a:prstGeom prst="roundRect">
            <a:avLst>
              <a:gd name="adj" fmla="val 64589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19" y="609521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💚 Преимущества RAG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6697" y="1715042"/>
            <a:ext cx="3441274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Актуальность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6697" y="2141639"/>
            <a:ext cx="3441274" cy="23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База обновляется без переобучения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923370" y="1715042"/>
            <a:ext cx="3441412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Прозрачность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23370" y="2141639"/>
            <a:ext cx="3441412" cy="23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Видны источники информации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46697" y="3076145"/>
            <a:ext cx="3441274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Эффективность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6697" y="3502737"/>
            <a:ext cx="3441274" cy="23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Нет необходимости в дообучении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923370" y="3076145"/>
            <a:ext cx="3441412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Масштабируемость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23370" y="3502737"/>
            <a:ext cx="3441412" cy="23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Работает с большими корпусами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⚠️ Ограничения RAG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3"/>
            <a:ext cx="7620270" cy="194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Зависит от качества поиска (Garbage in → Garbage out)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Не учит модель новым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закономерностям/стилю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Требует хорошей индексации и структурирования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Latency на получение документов (50–500 ms)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Не решает проблему с неправильными выводами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 RAG vs Fine-tuning (первое сравнение)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71860" y="2002278"/>
            <a:ext cx="192102" cy="18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3671860" y="2421159"/>
            <a:ext cx="192102" cy="18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600257" y="2840045"/>
            <a:ext cx="192102" cy="18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671860" y="3258927"/>
            <a:ext cx="192102" cy="18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7924962" cy="84101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2699742"/>
            <a:ext cx="7924962" cy="668374"/>
          </a:xfrm>
          <a:prstGeom prst="roundRect">
            <a:avLst>
              <a:gd name="adj" fmla="val 82086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Базовая LLM → Не замораживаем слои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→ Дообучим все W и b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→ На специализированных данных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→ Результат: модель действительно учится! 📚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🎓 Full Fine-tuning: Что это?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3819" y="1630207"/>
            <a:ext cx="7568316" cy="536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Fine-tuning = адаптация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ВСЕХ параметров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модели</a:t>
            </a:r>
            <a:endParaRPr lang="en-US" sz="1320" dirty="0"/>
          </a:p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 целевом датасете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Процесс Full Fine-tuning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3"/>
            <a:ext cx="7620270" cy="27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Загрузить предтренированную модель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Подготовить целевой датасет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Инициализировать оптимизатор (AdamW, SGD)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Forward pass → Compute loss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Backward pass → Обновить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параметры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Repeat (эпохи)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Validation на holdout сете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💚 Плюсы Full Fine-tuning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59"/>
            <a:ext cx="7620270" cy="1553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Максимальная адаптация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модель действительно учится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Изучение стиля/тона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усваивает особенности домена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Высокая точность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при достаточном объёме данных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Простота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стандартный процесс обучения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8903" y="1828288"/>
            <a:ext cx="7315578" cy="511833"/>
          </a:xfrm>
          <a:prstGeom prst="roundRect">
            <a:avLst>
              <a:gd name="adj" fmla="val 107191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Llama-2-70B потребует 500+ ГБ VRAM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обычном GPU (24 ГБ) → невозможно 😱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519" y="609521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💔 Минусы Fine-tuning (КРИТИЧНО!)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211" y="1477863"/>
            <a:ext cx="7620270" cy="21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Требования к памяти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O(параметров) в GPU 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Время обучения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часы/дни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Требует много данных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сотни–тысячи примеров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Catastrophic forgetting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модель забывает исходные знания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3848154" cy="2098612"/>
          </a:xfrm>
          <a:prstGeom prst="roundRect">
            <a:avLst>
              <a:gd name="adj" fmla="val 34857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192" y="1477863"/>
            <a:ext cx="3848289" cy="2098612"/>
          </a:xfrm>
          <a:prstGeom prst="roundRect">
            <a:avLst>
              <a:gd name="adj" fmla="val 34857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19" y="609521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🧠 Catastrophic Forgetting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6697" y="1715044"/>
            <a:ext cx="3373798" cy="26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До Fine-tuning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999043" y="2135818"/>
            <a:ext cx="3221452" cy="105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Знает ~100 языков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Общее понимание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Balanced performance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923370" y="1715044"/>
            <a:ext cx="3373934" cy="26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EF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После Fine-tuning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5075715" y="2135818"/>
            <a:ext cx="3221588" cy="105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Знает целевой язык хорошо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Но </a:t>
            </a:r>
            <a:pPr indent="0" marL="0">
              <a:lnSpc>
                <a:spcPts val="1026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ЗАБЫЛА другие</a:t>
            </a: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языки ❌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Performance деградировала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7924962" cy="651055"/>
          </a:xfrm>
          <a:prstGeom prst="roundRect">
            <a:avLst>
              <a:gd name="adj" fmla="val 8426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Требования памяти на Llama-2-7B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66536" y="1820707"/>
            <a:ext cx="1451529" cy="15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Всего: ~100 ГБ 😱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971254" y="1820707"/>
            <a:ext cx="839618" cy="15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НЕВОЗМОЖНО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519" y="2509782"/>
            <a:ext cx="8083461" cy="29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4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💡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Нужна альтернатива!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3265019"/>
            <a:ext cx="7924962" cy="597342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🔴 Проблема Full Fine-tuning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211" y="1477863"/>
            <a:ext cx="7620270" cy="133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🔴</a:t>
            </a:r>
            <a:pPr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LLM огромны (7B, 13B, 70B, 405B параметров)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🔴</a:t>
            </a:r>
            <a:pPr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Полное обучение требует экстремальные ресурсы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🔴</a:t>
            </a:r>
            <a:pPr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Нужна альтернатива для обычных людей!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738136" y="3417364"/>
            <a:ext cx="7719682" cy="29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</a:t>
            </a:r>
            <a:pPr algn="ctr" indent="0" marL="0">
              <a:lnSpc>
                <a:spcPts val="2304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Решение: LoRA!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7924962" cy="853191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2635746"/>
            <a:ext cx="7924962" cy="633737"/>
          </a:xfrm>
          <a:prstGeom prst="roundRect">
            <a:avLst>
              <a:gd name="adj" fmla="val 86572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💡 Идея LoRA (Low-Rank Adaptation)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3819" y="1630207"/>
            <a:ext cx="7568316" cy="54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 обучай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W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(параметров миллиарды!) </a:t>
            </a:r>
            <a:endParaRPr lang="en-US" sz="135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Обучай </a:t>
            </a:r>
            <a:endParaRPr lang="en-US" sz="135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НИЗКОРАНГОВЫЕ матрицы 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72170" y="2978590"/>
            <a:ext cx="1608716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0.01% параметров! 🎉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7924962" cy="789601"/>
          </a:xfrm>
          <a:prstGeom prst="roundRect">
            <a:avLst>
              <a:gd name="adj" fmla="val 69483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🏗️ Архитектура LoRA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77" y="1803388"/>
            <a:ext cx="1016539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Обучаются! 🔥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2005662" y="1976568"/>
            <a:ext cx="1370796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65k параметров 🎉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💚 Преимущества LoRA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3"/>
            <a:ext cx="7620270" cy="194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Память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70% сокращение vs full fine-tuning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Скорость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обучение в 2–3× быстрее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Данные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работает с меньшим объёмом данных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Портативность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адаптеры весят ~10 МБ вместо 14 ГБ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Множественные адаптеры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разные LoRA для разных задач!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7924962" cy="616419"/>
          </a:xfrm>
          <a:prstGeom prst="roundRect">
            <a:avLst>
              <a:gd name="adj" fmla="val 89004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LoRA на Llama-2-7B (r=8)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793629" y="1803388"/>
            <a:ext cx="1291582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Всего: ~33 ГБ ✅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63"/>
            <a:ext cx="7924962" cy="572853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4386095"/>
            <a:ext cx="7924962" cy="633873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 QLoRA (Quantized LoRA)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3819" y="1630207"/>
            <a:ext cx="7719682" cy="26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LoRA + 4-bit квантование =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QLoRA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09519" y="2431573"/>
            <a:ext cx="808346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Идея: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914211" y="2916082"/>
            <a:ext cx="7620270" cy="116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Заморози и квантуй базовую модель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Обучай LoRA адаптеры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Результат: ещё более низкое потребление памяти!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6501" y="4538439"/>
            <a:ext cx="7737347" cy="329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6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Llama-2-70B на GPU 24GB → ВОЗМОЖНО!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QLoRA: Технические детали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3"/>
            <a:ext cx="7620270" cy="177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4-bit NormalFloat (NF4)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оптимальный формат для нормально распределённых весов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🔀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Double Quantization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квантуем даже квантизационные константы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💾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Paged Optimizers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управление памятью при пиках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Flash Attention-2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ускорение вычислений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⚖️ Сравнение: Full FT vs LoRA vs QLoRA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23711" y="1926106"/>
            <a:ext cx="460658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Память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723711" y="2336323"/>
            <a:ext cx="575340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Скорость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723711" y="2746549"/>
            <a:ext cx="562229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Точность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723711" y="3156775"/>
            <a:ext cx="782898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Требует GPU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23711" y="3567001"/>
            <a:ext cx="65814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Стоимость</a:t>
            </a:r>
            <a:endParaRPr lang="en-US" sz="10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01682"/>
            <a:ext cx="7924962" cy="876192"/>
          </a:xfrm>
          <a:prstGeom prst="roundRect">
            <a:avLst>
              <a:gd name="adj" fmla="val 62616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🌳 Decision Tree: Выбор метода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18126" y="1588666"/>
            <a:ext cx="528004" cy="15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✅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630449" y="1779166"/>
            <a:ext cx="1619342" cy="15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Fine-tuning ✅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338100" y="1969666"/>
            <a:ext cx="1535435" cy="15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 ✅ (оптимум!)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559677" y="1969666"/>
            <a:ext cx="695955" cy="15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QLoRA ✅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2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🔵 Используй RAG если: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3"/>
            <a:ext cx="7620270" cy="177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📄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Информация из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внешних источников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(документы, интернет)</a:t>
            </a:r>
            <a:endParaRPr lang="en-US" sz="1260" dirty="0"/>
          </a:p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Данные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обновляются часто</a:t>
            </a:r>
            <a:endParaRPr lang="en-US" sz="1260" dirty="0"/>
          </a:p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Нужна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прозрачность источников</a:t>
            </a:r>
            <a:endParaRPr lang="en-US" sz="1260" dirty="0"/>
          </a:p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Примеры: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чат-боты, QA системы, поиск информации</a:t>
            </a:r>
            <a:endParaRPr lang="en-US" sz="12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2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🟢 Используй LoRA если: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11" y="1477863"/>
            <a:ext cx="7620270" cy="177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Много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специализированных данных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(1000+)</a:t>
            </a:r>
            <a:endParaRPr lang="en-US" sz="1260" dirty="0"/>
          </a:p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✍️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Нужно изучить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стиль/тон/синтаксис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домена</a:t>
            </a:r>
            <a:endParaRPr lang="en-US" sz="1260" dirty="0"/>
          </a:p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Есть GPU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24+ ГБ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и время (часы–дни)</a:t>
            </a:r>
            <a:endParaRPr lang="en-US" sz="1260" dirty="0"/>
          </a:p>
          <a:p>
            <a:pPr marL="342900" indent="-342900">
              <a:lnSpc>
                <a:spcPts val="1134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134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Примеры: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адаптация под язык, письма, диалоги</a:t>
            </a:r>
            <a:endParaRPr lang="en-US" sz="12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60952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Финальное сравнение (ВЫБОР)</a:t>
            </a:r>
            <a:endParaRPr lang="en-US" sz="2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01691"/>
            <a:ext cx="7924962" cy="997419"/>
          </a:xfrm>
          <a:prstGeom prst="roundRect">
            <a:avLst>
              <a:gd name="adj" fmla="val 55006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LoraConfig, get_peft_model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AutoModelForCausalLM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AutoModelForCausalLM.from_pretrained("mistral-7b")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lora_config = LoraConfig(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r=8,                    # Ранг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lora_alpha=16,          # Масштаб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target_modules=["q_proj", "v_proj"],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lora_dropout=0.05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get_peft_model(model, lora_config)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model.print_trainable_parameters()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trainable params: 4,915,200 || all params: 7,325,629,440 (0.067%)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  # Обучаем адаптеры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519" y="60952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💻 LoRA: Практический пример</a:t>
            </a:r>
            <a:endParaRPr lang="en-US" sz="2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19" y="1477873"/>
            <a:ext cx="3848154" cy="2072635"/>
          </a:xfrm>
          <a:prstGeom prst="roundRect">
            <a:avLst>
              <a:gd name="adj" fmla="val 35294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192" y="1477873"/>
            <a:ext cx="3848289" cy="2072635"/>
          </a:xfrm>
          <a:prstGeom prst="roundRect">
            <a:avLst>
              <a:gd name="adj" fmla="val 35294"/>
            </a:avLst>
          </a:prstGeom>
          <a:solidFill>
            <a:srgbClr val="1E293B"/>
          </a:solidFill>
          <a:ln w="8659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19" y="609526"/>
            <a:ext cx="8083461" cy="41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Инструменты и библиотеки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6697" y="1715049"/>
            <a:ext cx="344127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🔵 Для RAG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999043" y="2109853"/>
            <a:ext cx="3221452" cy="105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LangChain / LangGraph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FAISS / Chroma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Hugging Face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923370" y="1715049"/>
            <a:ext cx="3441412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🟢 Для LoRA/QLoRA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5075715" y="2109853"/>
            <a:ext cx="3221588" cy="105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PEFT (Parameter-Efficient)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bitsandbytes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PyTorch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519" y="3931360"/>
            <a:ext cx="8083461" cy="27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368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Для оценки: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BLEU, ROUGE, METEOR, BERTScore</a:t>
            </a:r>
            <a:endParaRPr lang="en-US" sz="11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7904" y="2977"/>
            <a:ext cx="1408057" cy="36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Итоги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681748" y="825717"/>
            <a:ext cx="3856115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Выучили 4 метода адаптации LLM: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34094" y="1252314"/>
            <a:ext cx="3628159" cy="1659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встройка внешних знаний</a:t>
            </a:r>
            <a:endParaRPr lang="en-US" sz="1200" dirty="0"/>
          </a:p>
          <a:p>
            <a:pPr algn="l"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Fine-tuning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полное дообучение</a:t>
            </a:r>
            <a:endParaRPr lang="en-US" sz="1200" dirty="0"/>
          </a:p>
          <a:p>
            <a:pPr algn="l"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LoRA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эффективное дообучение</a:t>
            </a:r>
            <a:endParaRPr lang="en-US" sz="1200" dirty="0"/>
          </a:p>
          <a:p>
            <a:pPr algn="l" marL="342900" indent="-342900">
              <a:lnSpc>
                <a:spcPts val="1080"/>
              </a:lnSpc>
              <a:buSzPct val="100000"/>
              <a:buChar char="•"/>
            </a:pPr>
            <a:r>
              <a:rPr lang="en-US" sz="16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QLoRA</a:t>
            </a:r>
            <a:pPr algn="l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дообучение на слабом железе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79803" y="4054208"/>
            <a:ext cx="1784395" cy="355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❓ ВОПРОСЫ?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297001" y="4713926"/>
            <a:ext cx="4549862" cy="27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давайте обсудим и углубимся в интересующие вас темы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2025-12-08T20:52:00Z</dcterms:created>
  <dcterms:modified xsi:type="dcterms:W3CDTF">2025-12-08T20:52:00Z</dcterms:modified>
</cp:coreProperties>
</file>